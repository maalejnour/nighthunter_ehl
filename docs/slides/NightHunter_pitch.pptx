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4243B"/>
                </a:solidFill>
              </a:defRPr>
            </a:pPr>
            <a:r>
              <a:t>NightHunter</a:t>
            </a:r>
          </a:p>
          <a:p>
            <a:pPr>
              <a:defRPr sz="2600">
                <a:solidFill>
                  <a:srgbClr val="0F8B8D"/>
                </a:solidFill>
              </a:defRPr>
            </a:pPr>
            <a:r>
              <a:t>A procurement negotiator where code decides and the model writes</a:t>
            </a:r>
          </a:p>
          <a:p>
            <a:pPr>
              <a:defRPr sz="1800">
                <a:solidFill>
                  <a:srgbClr val="555F6B"/>
                </a:solidFill>
              </a:defRPr>
            </a:pPr>
            <a:r>
              <a:t>Tacto Negotiation Arena · EHL Grand Finale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B"/>
                </a:solidFill>
              </a:defRPr>
            </a:pPr>
            <a:r>
              <a:t>The job: lowest total cost, not lowest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Buyer: Hollerau Pumpenwerke, negotiating by e-mail with supplier bots: price increases, renewals, RFQs, bundles, raw materials, capacity, quality</a:t>
            </a:r>
          </a:p>
          <a:p>
            <a:pPr>
              <a:spcAft>
                <a:spcPts val="800"/>
              </a:spcAft>
              <a:defRPr sz="1800" b="1">
                <a:solidFill>
                  <a:srgbClr val="14243B"/>
                </a:solidFill>
              </a:defRPr>
            </a:pPr>
            <a:r>
              <a:t>• Total cost decides:** price, uncovered need, payment, freight, lead time, quality, index risk, supplier health</a:t>
            </a:r>
          </a:p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Score = share of the possible saving captured: (C_open − C_deal) / (C_open − C_best)</a:t>
            </a:r>
          </a:p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Final: 5 waves × 8 minutes, all cases in parallel, no human in the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B"/>
                </a:solidFill>
              </a:defRPr>
            </a:pPr>
            <a:r>
              <a:t>How NightHunter works</a:t>
            </a:r>
          </a:p>
          <a:p>
            <a:pPr>
              <a:defRPr sz="1600">
                <a:solidFill>
                  <a:srgbClr val="555F6B"/>
                </a:solidFill>
              </a:defRPr>
            </a:pPr>
            <a:r>
              <a:t>Every number is decided by code; the LLM only writes the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43B"/>
                </a:solidFill>
              </a:defRPr>
            </a:pPr>
            <a:r>
              <a:t>• 1 Dossier:** source-linked facts from the data package and the Sunday release</a:t>
            </a:r>
          </a:p>
          <a:p>
            <a:pPr>
              <a:spcAft>
                <a:spcPts val="800"/>
              </a:spcAft>
              <a:defRPr sz="1700" b="1">
                <a:solidFill>
                  <a:srgbClr val="14243B"/>
                </a:solidFill>
              </a:defRPr>
            </a:pPr>
            <a:r>
              <a:t>• 2 Supplier read:** approval thresholds, price freezes, cash needs, contract notice, quality record, what it says in the thread</a:t>
            </a:r>
          </a:p>
          <a:p>
            <a:pPr>
              <a:spcAft>
                <a:spcPts val="800"/>
              </a:spcAft>
              <a:defRPr sz="1700" b="1">
                <a:solidFill>
                  <a:srgbClr val="14243B"/>
                </a:solidFill>
              </a:defRPr>
            </a:pPr>
            <a:r>
              <a:t>• 3 Planner:** every term priced in € with the official cost function, 2–3 equal-cost options most attractive to the supplier, goal-based opening, reciprocal concessions</a:t>
            </a:r>
          </a:p>
          <a:p>
            <a:pPr>
              <a:spcAft>
                <a:spcPts val="800"/>
              </a:spcAft>
              <a:defRPr sz="1700" b="1">
                <a:solidFill>
                  <a:srgbClr val="14243B"/>
                </a:solidFill>
              </a:defRPr>
            </a:pPr>
            <a:r>
              <a:t>• 4 Arguments:** one checked fact per argument, a new fact each round, direct answers to the supplier's questions</a:t>
            </a:r>
          </a:p>
          <a:p>
            <a:pPr>
              <a:spcAft>
                <a:spcPts val="800"/>
              </a:spcAft>
              <a:defRPr sz="1700" b="1">
                <a:solidFill>
                  <a:srgbClr val="14243B"/>
                </a:solidFill>
              </a:defRPr>
            </a:pPr>
            <a:r>
              <a:t>• 5 E-mail:** gpt-5.6-luna writes the framing; a filter blocks invented numbers, threats and promises</a:t>
            </a:r>
          </a:p>
          <a:p>
            <a:pPr>
              <a:spcAft>
                <a:spcPts val="800"/>
              </a:spcAft>
              <a:defRPr sz="1700" b="1">
                <a:solidFill>
                  <a:srgbClr val="14243B"/>
                </a:solidFill>
              </a:defRPr>
            </a:pPr>
            <a:r>
              <a:t>• 6 Close:** accept only a must-have-compliant primary sheet that beats the alternative; take a good final offer</a:t>
            </a:r>
          </a:p>
          <a:p>
            <a:pPr>
              <a:spcAft>
                <a:spcPts val="800"/>
              </a:spcAft>
              <a:defRPr sz="1700" b="0">
                <a:solidFill>
                  <a:srgbClr val="14243B"/>
                </a:solidFill>
              </a:defRPr>
            </a:pPr>
            <a:r>
              <a:t>• RFQ: one worker per bidder, best rival bid cited, a single safe close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B"/>
                </a:solidFill>
              </a:defRPr>
            </a:pPr>
            <a:r>
              <a:t>What we learned about suppliers</a:t>
            </a:r>
          </a:p>
          <a:p>
            <a:pPr>
              <a:defRPr sz="1600">
                <a:solidFill>
                  <a:srgbClr val="555F6B"/>
                </a:solidFill>
              </a:defRPr>
            </a:pPr>
            <a:r>
              <a:t>From 300+ negotiations and the arena's own traces (supplier reasons in words)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5544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310896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424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The first reply carries most of the 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stabilise: 1.40 % of a 1.69 % total move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Match their first big drop: a smaller step makes them RAISE the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P08: 47 vs 68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A NEW verified fact moves them: notice period → "a fair point"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34 of 38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Index arguments and past order prices do not ("not our reality")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23 / 8 replies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Unanswered questions block them ("which volume can you commit to?")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60+ times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Countering a single supplier's final offer → walk-away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2 of 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A bigger LLM did not help: code decides the 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gpt-6 variants lost or tied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B"/>
                </a:solidFill>
              </a:defRPr>
            </a:pPr>
            <a:r>
              <a:t>How we learned without over-fitting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Mined every replay for the supplier's reasons in words</a:t>
            </a:r>
          </a:p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Train / validation / test split BY CASE, plus a 300× bootstrap: we keep a rule only if it holds on suppliers it has not seen</a:t>
            </a:r>
          </a:p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Path-to-target: per case, the price needed for the best score vs the best price ever offered</a:t>
            </a:r>
          </a:p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Digital twin used for bug-finding; it did not beat a naive predictor, so we did not tune on it</a:t>
            </a:r>
          </a:p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No case IDs in the agent: the hidden final has new suppliers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B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4243B"/>
                </a:solidFill>
              </a:defRPr>
            </a:pPr>
            <a:r>
              <a:t>• Mean per run: 46.7 → 75 on the single-supplier practice cases; RFQ P05 92.4 (house agent 56)</a:t>
            </a:r>
          </a:p>
          <a:p>
            <a:pPr>
              <a:spcAft>
                <a:spcPts val="800"/>
              </a:spcAft>
              <a:defRPr sz="1700" b="0">
                <a:solidFill>
                  <a:srgbClr val="14243B"/>
                </a:solidFill>
              </a:defRPr>
            </a:pPr>
            <a:r>
              <a:t>• Full 10-case rehearsal under final rules: 10/10 deals, 0 timeouts, every case inside the 8-minute cap</a:t>
            </a:r>
          </a:p>
          <a:p>
            <a:pPr>
              <a:spcAft>
                <a:spcPts val="800"/>
              </a:spcAft>
              <a:defRPr sz="1700" b="0">
                <a:solidFill>
                  <a:srgbClr val="14243B"/>
                </a:solidFill>
              </a:defRPr>
            </a:pPr>
            <a:r>
              <a:t>• Robustness fixes found in rehearsal: RFQ busy sessions and stale offers, the open-session limit, missing fields, late replies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4206240"/>
          <a:ext cx="109728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P01</a:t>
                      </a:r>
                    </a:p>
                  </a:txBody>
                  <a:tcPr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P02</a:t>
                      </a:r>
                    </a:p>
                  </a:txBody>
                  <a:tcPr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P03</a:t>
                      </a:r>
                    </a:p>
                  </a:txBody>
                  <a:tcPr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P04</a:t>
                      </a:r>
                    </a:p>
                  </a:txBody>
                  <a:tcPr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P05</a:t>
                      </a:r>
                    </a:p>
                  </a:txBody>
                  <a:tcPr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P07</a:t>
                      </a:r>
                    </a:p>
                  </a:txBody>
                  <a:tcPr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P08</a:t>
                      </a:r>
                    </a:p>
                  </a:txBody>
                  <a:tcPr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P10</a:t>
                      </a:r>
                    </a:p>
                  </a:txBody>
                  <a:tcPr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P11</a:t>
                      </a:r>
                    </a:p>
                  </a:txBody>
                  <a:tcPr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P18</a:t>
                      </a:r>
                    </a:p>
                  </a:txBody>
                  <a:tcPr>
                    <a:solidFill>
                      <a:srgbClr val="1424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91.6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73.5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92.3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87.4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92.4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74.0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72.5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69.4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79.4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60.6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B"/>
                </a:solidFill>
              </a:defRPr>
            </a:pPr>
            <a:r>
              <a:t>One negotiation: P01, a family foundry asks +9.5 %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Our first e-mail: a deferred start date for faster payment, plus two checked facts: their notice period vs the contract, and their on-time delivery of 85 %</a:t>
            </a:r>
          </a:p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Supplier: "We checked the notice period data you cited; it holds and we took it into account. We did not know that - a fair point."</a:t>
            </a:r>
          </a:p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Result: €135.0 from April instead of €138.55 from November → score 87–89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B"/>
                </a:solidFill>
              </a:defRPr>
            </a:pPr>
            <a:r>
              <a:t>Honest limits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Some suppliers have structural ceilings (P02: an indexed deal capped near 74; it needs a fixed price this supplier never quoted)</a:t>
            </a:r>
          </a:p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Remaining gaps are price endgames; next: one-session experiments on deterministic suppliers</a:t>
            </a:r>
          </a:p>
          <a:p>
            <a:pPr>
              <a:spcAft>
                <a:spcPts val="800"/>
              </a:spcAft>
              <a:defRPr sz="1800" b="0">
                <a:solidFill>
                  <a:srgbClr val="14243B"/>
                </a:solidFill>
              </a:defRPr>
            </a:pPr>
            <a:r>
              <a:t>• On a real supplier: the reasoning transfers (total-cost menus, checked facts, answered questions); the numeric calibration would need re-learning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