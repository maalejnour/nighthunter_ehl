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Supplier bots open with a number, but a number alone does not tell us where a deal can move. NightHunter improved by making a few practical changes: understand the supplier, value the whole offer, and trade terms deliberately. Here are the moves we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stopped treating every supplier the same. We looked for clues about capacity, cash needs and contract timing in their documents and replies. That helped us make a concrete ask. In one competitive bid, we focused on a supplier with spare capacity and a cash need, then used the rival's exact current price instead of vague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stopped judging offers by unit price alone. Payment timing, delivery and quality can change the cost of a deal. So we put forward a few choices with different trade-offs, each still good for us. Then we moved in measured steps, backed key requests with a verified detail and answered supplier questions with specific numbers. When a good final offer arrived, we took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nine single-supplier practice cases, our original system averaged 46.7, and the best measured batch averaged 75.1 out of 100. In two hosted RFQ tests, scores were 92.4 and 79.2. A separate ten-case rehearsal completed every deal with no errors or timeouts. These are practice results, not a promise about new suppliers. The takeaway: listen closely, trade the full package, and know when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30352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9EEC2"/>
                </a:solidFill>
                <a:latin typeface="Aptos"/>
              </a:rPr>
              <a:t>TACTO NEGOTIATION ARENA  ·  EHL GRAND FINALE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389888"/>
            <a:ext cx="60807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5F7F9"/>
                </a:solidFill>
                <a:latin typeface="Aptos"/>
              </a:rPr>
              <a:t>Better deals start
with better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182112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AEBCC6"/>
                </a:solidFill>
                <a:latin typeface="Aptos"/>
              </a:rPr>
              <a:t>How NightHunter learned to negotiate
with supplier bots.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965192"/>
            <a:ext cx="5440680" cy="71323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15721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BE70"/>
                </a:solidFill>
                <a:latin typeface="Aptos"/>
              </a:rPr>
              <a:t>LISTEN  →  VALUE  →  TRADE  →  CLOSE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68312" y="1060704"/>
            <a:ext cx="4407408" cy="969264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96912" y="1271016"/>
            <a:ext cx="512064" cy="512064"/>
          </a:xfrm>
          <a:prstGeom prst="ellipse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96912" y="1389888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C141C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1207007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9EEC2"/>
                </a:solidFill>
                <a:latin typeface="Aptos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499616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9"/>
                </a:solidFill>
                <a:latin typeface="Aptos"/>
              </a:rPr>
              <a:t>Spot what matters to this supplier.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68312" y="2258568"/>
            <a:ext cx="4407408" cy="969264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96912" y="2468879"/>
            <a:ext cx="512064" cy="512064"/>
          </a:xfrm>
          <a:prstGeom prst="ellipse">
            <a:avLst/>
          </a:prstGeom>
          <a:solidFill>
            <a:srgbClr val="77C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2587751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C141C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0144" y="2404872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7C9E8"/>
                </a:solidFill>
                <a:latin typeface="Aptos"/>
              </a:rP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697479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9"/>
                </a:solidFill>
                <a:latin typeface="Aptos"/>
              </a:rPr>
              <a:t>Look beyond the sticker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8312" y="3456432"/>
            <a:ext cx="4407408" cy="969264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96912" y="3666744"/>
            <a:ext cx="512064" cy="512064"/>
          </a:xfrm>
          <a:prstGeom prst="ellipse">
            <a:avLst/>
          </a:prstGeom>
          <a:solidFill>
            <a:srgbClr val="FFB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378561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C141C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3602736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E70"/>
                </a:solidFill>
                <a:latin typeface="Aptos"/>
              </a:rPr>
              <a:t>TRADE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3895344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9"/>
                </a:solidFill>
                <a:latin typeface="Aptos"/>
              </a:rPr>
              <a:t>Give real choices, backed by facts.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8312" y="4654296"/>
            <a:ext cx="4407408" cy="969264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96912" y="4864608"/>
            <a:ext cx="512064" cy="512064"/>
          </a:xfrm>
          <a:prstGeom prst="ellipse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4983480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C141C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4800600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9EEC2"/>
                </a:solidFill>
                <a:latin typeface="Aptos"/>
              </a:rPr>
              <a:t>CLOSE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0144" y="5093208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9"/>
                </a:solidFill>
                <a:latin typeface="Aptos"/>
              </a:rPr>
              <a:t>Take a good offer when it arrives.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473952"/>
            <a:ext cx="10881360" cy="32004"/>
          </a:xfrm>
          <a:prstGeom prst="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473952"/>
            <a:ext cx="2720340" cy="32004"/>
          </a:xfrm>
          <a:prstGeom prst="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54710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EBCC6"/>
                </a:solidFill>
                <a:latin typeface="Aptos"/>
              </a:rPr>
              <a:t>NIGHTHUNTER  ·  TACTO NEGOTIATION ARENA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80192" y="6528816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EBCC6"/>
                </a:solidFill>
                <a:latin typeface="Aptos"/>
              </a:rPr>
              <a:t>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132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9EEC2"/>
                </a:solidFill>
                <a:latin typeface="Aptos"/>
              </a:rPr>
              <a:t>01  ·  READ THE SUPPLIER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7F9"/>
                </a:solidFill>
                <a:latin typeface="Aptos"/>
              </a:rPr>
              <a:t>Find the pressure point before you make the ask.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EBCC6"/>
                </a:solidFill>
                <a:latin typeface="Aptos"/>
              </a:rPr>
              <a:t>We looked for useful clues in supplier documents, contract terms and live replies.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73952"/>
            <a:ext cx="10881360" cy="32004"/>
          </a:xfrm>
          <a:prstGeom prst="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6473952"/>
            <a:ext cx="5440680" cy="32004"/>
          </a:xfrm>
          <a:prstGeom prst="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EBCC6"/>
                </a:solidFill>
                <a:latin typeface="Aptos"/>
              </a:rPr>
              <a:t>NIGHTHUNTER  ·  TACTO NEGOTIATION 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92" y="6528816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EBCC6"/>
                </a:solidFill>
                <a:latin typeface="Aptos"/>
              </a:rPr>
              <a:t>02 /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401568" cy="290779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3401568" cy="64008"/>
          </a:xfrm>
          <a:prstGeom prst="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9EEC2"/>
                </a:solidFill>
                <a:latin typeface="Aptos"/>
              </a:rPr>
              <a:t>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53512"/>
            <a:ext cx="28895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7F9"/>
                </a:solidFill>
                <a:latin typeface="Aptos"/>
              </a:rPr>
              <a:t>Who can actually
fulfill the order?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4"/>
            <a:ext cx="2889504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EBCC6"/>
                </a:solidFill>
                <a:latin typeface="Aptos"/>
              </a:rPr>
              <a:t>Spare capacity can matter more than a low opening quote.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240280"/>
            <a:ext cx="3401568" cy="290779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2240280"/>
            <a:ext cx="3401568" cy="64008"/>
          </a:xfrm>
          <a:prstGeom prst="rect">
            <a:avLst/>
          </a:prstGeom>
          <a:solidFill>
            <a:srgbClr val="77C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54203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7C9E8"/>
                </a:solidFill>
                <a:latin typeface="Aptos"/>
              </a:rPr>
              <a:t>CASH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2953512"/>
            <a:ext cx="28895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7F9"/>
                </a:solidFill>
                <a:latin typeface="Aptos"/>
              </a:rPr>
              <a:t>What does the
supplier need now?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3986784"/>
            <a:ext cx="2889504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EBCC6"/>
                </a:solidFill>
                <a:latin typeface="Aptos"/>
              </a:rPr>
              <a:t>If faster payment matters, it can become a trade.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2240280"/>
            <a:ext cx="3401568" cy="290779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5864" y="2240280"/>
            <a:ext cx="3401568" cy="64008"/>
          </a:xfrm>
          <a:prstGeom prst="rect">
            <a:avLst/>
          </a:prstGeom>
          <a:solidFill>
            <a:srgbClr val="FFB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542032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E70"/>
                </a:solidFill>
                <a:latin typeface="Aptos"/>
              </a:rPr>
              <a:t>TIMING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953512"/>
            <a:ext cx="2889504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F7F9"/>
                </a:solidFill>
                <a:latin typeface="Aptos"/>
              </a:rPr>
              <a:t>Which date matters?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3986784"/>
            <a:ext cx="2889504" cy="850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EBCC6"/>
                </a:solidFill>
                <a:latin typeface="Aptos"/>
              </a:rPr>
              <a:t>A checked notice date or start date makes the ask specific.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68112"/>
            <a:ext cx="10789920" cy="557784"/>
          </a:xfrm>
          <a:prstGeom prst="round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14416"/>
            <a:ext cx="10241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7F9"/>
                </a:solidFill>
                <a:latin typeface="Aptos"/>
              </a:rPr>
              <a:t>One competitive bid: the exact rival price worked; vague pressure did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132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9EEC2"/>
                </a:solidFill>
                <a:latin typeface="Aptos"/>
              </a:rPr>
              <a:t>02  ·  TRADE THE WHOLE 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7F9"/>
                </a:solidFill>
                <a:latin typeface="Aptos"/>
              </a:rPr>
              <a:t>A good price is only part of a good deal.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EBCC6"/>
                </a:solidFill>
                <a:latin typeface="Aptos"/>
              </a:rPr>
              <a:t>Payment, delivery and quality can change what the offer is really worth.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73952"/>
            <a:ext cx="10881360" cy="32004"/>
          </a:xfrm>
          <a:prstGeom prst="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6473952"/>
            <a:ext cx="8161020" cy="32004"/>
          </a:xfrm>
          <a:prstGeom prst="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EBCC6"/>
                </a:solidFill>
                <a:latin typeface="Aptos"/>
              </a:rPr>
              <a:t>NIGHTHUNTER  ·  TACTO NEGOTIATION 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92" y="6528816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EBCC6"/>
                </a:solidFill>
                <a:latin typeface="Aptos"/>
              </a:rPr>
              <a:t>03 /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2084831" cy="71323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350008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EEC2"/>
                </a:solidFill>
                <a:latin typeface="Aptos"/>
              </a:rPr>
              <a:t>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2322576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EBCC6"/>
                </a:solidFill>
                <a:latin typeface="Aptos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36392" y="2121408"/>
            <a:ext cx="2084831" cy="71323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36392" y="2350008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7C9E8"/>
                </a:solidFill>
                <a:latin typeface="Aptos"/>
              </a:rPr>
              <a:t>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8656" y="2322576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EBCC6"/>
                </a:solidFill>
                <a:latin typeface="Aptos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2121408"/>
            <a:ext cx="2084831" cy="71323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68696" y="2350008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BE70"/>
                </a:solidFill>
                <a:latin typeface="Aptos"/>
              </a:rPr>
              <a:t>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322576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EBCC6"/>
                </a:solidFill>
                <a:latin typeface="Aptos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121408"/>
            <a:ext cx="2084831" cy="713232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2350008"/>
            <a:ext cx="20848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9EEC2"/>
                </a:solidFill>
                <a:latin typeface="Aptos"/>
              </a:rPr>
              <a:t>QUALITY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121408"/>
            <a:ext cx="1005840" cy="713232"/>
          </a:xfrm>
          <a:prstGeom prst="round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286000"/>
            <a:ext cx="10058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C141C"/>
                </a:solidFill>
                <a:latin typeface="Aptos"/>
              </a:rPr>
              <a:t>TOTAL
VALUE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" y="3429000"/>
            <a:ext cx="3401568" cy="1874519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666744"/>
            <a:ext cx="384048" cy="384048"/>
          </a:xfrm>
          <a:prstGeom prst="ellipse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53895" y="3712463"/>
            <a:ext cx="2359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9EEC2"/>
                </a:solidFill>
                <a:latin typeface="Aptos"/>
              </a:rPr>
              <a:t>GIVE OPTIONS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270248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7F9"/>
                </a:solidFill>
                <a:latin typeface="Aptos"/>
              </a:rPr>
              <a:t>Give a few offers with different trade-offs, each still good for 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429000"/>
            <a:ext cx="3401568" cy="1874519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8576" y="3666744"/>
            <a:ext cx="384048" cy="384048"/>
          </a:xfrm>
          <a:prstGeom prst="ellipse">
            <a:avLst/>
          </a:prstGeom>
          <a:solidFill>
            <a:srgbClr val="77C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8928" y="3712463"/>
            <a:ext cx="2359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7C9E8"/>
                </a:solidFill>
                <a:latin typeface="Aptos"/>
              </a:rPr>
              <a:t>USE A VERIFIED DETAIL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270248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7F9"/>
                </a:solidFill>
                <a:latin typeface="Aptos"/>
              </a:rPr>
              <a:t>Support the ask with one fact; answer questions with specific numbers.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2" y="3429000"/>
            <a:ext cx="3401568" cy="1874519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93608" y="3666744"/>
            <a:ext cx="384048" cy="384048"/>
          </a:xfrm>
          <a:prstGeom prst="ellipse">
            <a:avLst/>
          </a:prstGeom>
          <a:solidFill>
            <a:srgbClr val="FFBE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3712463"/>
            <a:ext cx="23591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E70"/>
                </a:solidFill>
                <a:latin typeface="Aptos"/>
              </a:rPr>
              <a:t>MOVE WITH PURPOSE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4270248"/>
            <a:ext cx="29260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F7F9"/>
                </a:solidFill>
                <a:latin typeface="Aptos"/>
              </a:rPr>
              <a:t>Concede in measured steps—and take a good final offer.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132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9EEC2"/>
                </a:solidFill>
                <a:latin typeface="Aptos"/>
              </a:rPr>
              <a:t>03  ·  WHAT THE TWEAKS DELIVERED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7F9"/>
                </a:solidFill>
                <a:latin typeface="Aptos"/>
              </a:rPr>
              <a:t>Small changes. Measurable practice gains.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89888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EBCC6"/>
                </a:solidFill>
                <a:latin typeface="Aptos"/>
              </a:rPr>
              <a:t>The results below come from separate practice tests and a final-style rehearsal.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473952"/>
            <a:ext cx="10881360" cy="32004"/>
          </a:xfrm>
          <a:prstGeom prst="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6473952"/>
            <a:ext cx="10881360" cy="32004"/>
          </a:xfrm>
          <a:prstGeom prst="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EBCC6"/>
                </a:solidFill>
                <a:latin typeface="Aptos"/>
              </a:rPr>
              <a:t>NIGHTHUNTER  ·  TACTO NEGOTIATION 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92" y="6528816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EBCC6"/>
                </a:solidFill>
                <a:latin typeface="Aptos"/>
              </a:rPr>
              <a:t>04 /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4767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EBCC6"/>
                </a:solidFill>
                <a:latin typeface="Aptos"/>
              </a:rPr>
              <a:t>AVERAGE SCORE  / 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5148072"/>
            <a:ext cx="4782312" cy="18287"/>
          </a:xfrm>
          <a:prstGeom prst="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44752" y="4016456"/>
            <a:ext cx="1216152" cy="1131615"/>
          </a:xfrm>
          <a:prstGeom prst="roundRect">
            <a:avLst/>
          </a:prstGeom>
          <a:solidFill>
            <a:srgbClr val="5F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04976"/>
            <a:ext cx="16276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7F9"/>
                </a:solidFill>
                <a:latin typeface="Aptos"/>
              </a:rPr>
              <a:t>46.7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5285232"/>
            <a:ext cx="187451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EBCC6"/>
                </a:solidFill>
                <a:latin typeface="Aptos"/>
              </a:rPr>
              <a:t>Original
baseline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38728" y="3328278"/>
            <a:ext cx="1216152" cy="1819793"/>
          </a:xfrm>
          <a:prstGeom prst="roundRect">
            <a:avLst/>
          </a:prstGeom>
          <a:solidFill>
            <a:srgbClr val="A9E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916798"/>
            <a:ext cx="16276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7F9"/>
                </a:solidFill>
                <a:latin typeface="Aptos"/>
              </a:rPr>
              <a:t>75.1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5285232"/>
            <a:ext cx="187451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EBCC6"/>
                </a:solidFill>
                <a:latin typeface="Aptos"/>
              </a:rPr>
              <a:t>Best measured
practice batch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856231"/>
            <a:ext cx="5321808" cy="1856231"/>
          </a:xfrm>
          <a:prstGeom prst="roundRect">
            <a:avLst/>
          </a:prstGeom>
          <a:solidFill>
            <a:srgbClr val="1A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12140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E70"/>
                </a:solidFill>
                <a:latin typeface="Aptos"/>
              </a:rPr>
              <a:t>COMPETITIVE BID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53288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7F9"/>
                </a:solidFill>
                <a:latin typeface="Aptos"/>
              </a:rPr>
              <a:t>92.4   /   79.2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36392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EBCC6"/>
                </a:solidFill>
                <a:latin typeface="Aptos"/>
              </a:rPr>
              <a:t>Two practice tests against suppliers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977639"/>
            <a:ext cx="5321808" cy="1170432"/>
          </a:xfrm>
          <a:prstGeom prst="roundRect">
            <a:avLst/>
          </a:prstGeom>
          <a:solidFill>
            <a:srgbClr val="202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4178808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A9EEC2"/>
                </a:solidFill>
                <a:latin typeface="Aptos"/>
              </a:rPr>
              <a:t>10 / 10 deals   ·   0 errors   ·   0 timeouts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4590288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7F9"/>
                </a:solidFill>
                <a:latin typeface="Aptos"/>
              </a:rPr>
              <a:t>Separate 10-case dress rehearsal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" y="5650992"/>
            <a:ext cx="10698480" cy="420624"/>
          </a:xfrm>
          <a:prstGeom prst="roundRect">
            <a:avLst/>
          </a:prstGeom>
          <a:solidFill>
            <a:srgbClr val="3029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5751576"/>
            <a:ext cx="10332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E70"/>
                </a:solidFill>
                <a:latin typeface="Aptos"/>
              </a:rPr>
              <a:t>PRACTICE RESULTS, NOT THE COMPETITION FINAL.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221992"/>
            <a:ext cx="43891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>
                <a:solidFill>
                  <a:srgbClr val="AEBCC6"/>
                </a:solidFill>
                <a:latin typeface="Aptos"/>
              </a:rPr>
              <a:t>Across 9 single-supplier practice cases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NightHunter Negotiated Better Deals</dc:title>
  <dc:subject>Two-minute audience-oriented strategy presentation</dc:subject>
  <dc:creator>NightHunter Team</dc:creator>
  <cp:keywords>negotiation, supplier strategy, procurement, Tacto Arena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